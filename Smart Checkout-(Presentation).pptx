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3"/>
  </p:notesMasterIdLst>
  <p:sldIdLst>
    <p:sldId id="256" r:id="rId3"/>
    <p:sldId id="267" r:id="rId4"/>
    <p:sldId id="269" r:id="rId5"/>
    <p:sldId id="282" r:id="rId6"/>
    <p:sldId id="270" r:id="rId7"/>
    <p:sldId id="271" r:id="rId8"/>
    <p:sldId id="283" r:id="rId9"/>
    <p:sldId id="272" r:id="rId10"/>
    <p:sldId id="273" r:id="rId11"/>
    <p:sldId id="284" r:id="rId12"/>
    <p:sldId id="274" r:id="rId13"/>
    <p:sldId id="275" r:id="rId14"/>
    <p:sldId id="285" r:id="rId15"/>
    <p:sldId id="277" r:id="rId16"/>
    <p:sldId id="279" r:id="rId17"/>
    <p:sldId id="286" r:id="rId18"/>
    <p:sldId id="280" r:id="rId19"/>
    <p:sldId id="287" r:id="rId20"/>
    <p:sldId id="281" r:id="rId21"/>
    <p:sldId id="268" r:id="rId2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0000"/>
    <a:srgbClr val="4C0000"/>
    <a:srgbClr val="3A00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85714" autoAdjust="0"/>
  </p:normalViewPr>
  <p:slideViewPr>
    <p:cSldViewPr snapToGrid="0" snapToObjects="1">
      <p:cViewPr varScale="1">
        <p:scale>
          <a:sx n="89" d="100"/>
          <a:sy n="89" d="100"/>
        </p:scale>
        <p:origin x="816" y="168"/>
      </p:cViewPr>
      <p:guideLst>
        <p:guide orient="horz" pos="2160"/>
        <p:guide pos="288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ED68F-A3FC-453E-AB48-95082AA81B68}" type="datetimeFigureOut">
              <a:rPr lang="it-IT" smtClean="0"/>
              <a:t>04/09/26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10883-CFAA-40E9-8C0C-66DEAD1F67F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0401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110883-CFAA-40E9-8C0C-66DEAD1F67FA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7140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167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3C48A-DAB1-A970-E9E2-E194C867D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1BEF6-57B6-38E4-E854-2E14EBDD2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A4237-4CF8-1811-860A-26A3C3247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CBEFD-77BB-8DD2-035B-0E1830490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590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BD2EC-234C-8BFA-81FA-6EC9E61F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676CD-BC61-F838-76D3-9F110D57E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72B7C-1E78-FD57-F26F-803B60F4F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782D1-EDD2-A2FF-7718-FA5A8652A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6852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BE62C-297A-BCDB-2AB5-52863D002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845D2-F2BC-5922-7315-40FCFC151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B5A75-355A-BF2E-38C2-9CCFC4A73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D4366-8113-EEB8-81FD-F1027FA0E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433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537CE-D83A-1838-E09E-394C98101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82714-7A71-94B1-4610-4BBA1DD0F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E7ED9-7695-B531-C198-DE5F2B2A5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192332"/>
                </a:solidFill>
              </a:defRPr>
            </a:pPr>
            <a:r>
              <a:rPr lang="it-IT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 </a:t>
            </a:r>
            <a:r>
              <a:rPr lang="it-IT" sz="1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lang="it-IT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answers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>
              <a:spcAft>
                <a:spcPts val="800"/>
              </a:spcAft>
              <a:defRPr sz="2000">
                <a:solidFill>
                  <a:srgbClr val="192332"/>
                </a:solidFill>
              </a:defRPr>
            </a:pP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product and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SKU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>
              <a:spcAft>
                <a:spcPts val="800"/>
              </a:spcAft>
              <a:defRPr sz="2000">
                <a:solidFill>
                  <a:srgbClr val="192332"/>
                </a:solidFill>
              </a:defRPr>
            </a:pPr>
            <a:r>
              <a:rPr lang="it-IT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it-IT" sz="1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Counting</a:t>
            </a:r>
            <a:r>
              <a:rPr lang="it-IT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answers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>
              <a:spcAft>
                <a:spcPts val="800"/>
              </a:spcAft>
              <a:defRPr sz="2000">
                <a:solidFill>
                  <a:srgbClr val="192332"/>
                </a:solidFill>
              </a:defRPr>
            </a:pP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many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instances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SKU are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>
              <a:spcAft>
                <a:spcPts val="800"/>
              </a:spcAft>
              <a:defRPr sz="2000">
                <a:solidFill>
                  <a:srgbClr val="192332"/>
                </a:solidFill>
              </a:defRPr>
            </a:pPr>
            <a:r>
              <a:rPr lang="it-IT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Price </a:t>
            </a:r>
            <a:r>
              <a:rPr lang="it-IT" sz="1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lookup</a:t>
            </a:r>
            <a:r>
              <a:rPr lang="it-IT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answers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>
              <a:spcAft>
                <a:spcPts val="800"/>
              </a:spcAft>
              <a:defRPr sz="2000">
                <a:solidFill>
                  <a:srgbClr val="192332"/>
                </a:solidFill>
              </a:defRPr>
            </a:pP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unit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price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associated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SKU?</a:t>
            </a:r>
          </a:p>
          <a:p>
            <a:pPr>
              <a:spcAft>
                <a:spcPts val="800"/>
              </a:spcAft>
              <a:defRPr sz="2000">
                <a:solidFill>
                  <a:srgbClr val="192332"/>
                </a:solidFill>
              </a:defRPr>
            </a:pPr>
            <a:r>
              <a:rPr lang="it-IT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Checkout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calculation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answers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>
              <a:spcAft>
                <a:spcPts val="800"/>
              </a:spcAft>
              <a:defRPr sz="2000">
                <a:solidFill>
                  <a:srgbClr val="192332"/>
                </a:solidFill>
              </a:defRPr>
            </a:pP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the line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final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>
              <a:spcAft>
                <a:spcPts val="800"/>
              </a:spcAft>
              <a:defRPr sz="2000">
                <a:solidFill>
                  <a:srgbClr val="192332"/>
                </a:solidFill>
              </a:defRPr>
            </a:pPr>
            <a:endParaRPr lang="it-I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  <a:defRPr sz="2000">
                <a:solidFill>
                  <a:srgbClr val="192332"/>
                </a:solidFill>
              </a:defRPr>
            </a:pP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Therefore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, the project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evaluates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strict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basket-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correctness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5705D-3C67-3E06-C7A1-87824DB4D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863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04EA6-9472-A84A-85C6-EAFD0678A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45AAC-6DFB-66AF-B650-168C2C3A7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B53D6-E516-E135-EF05-5EFF94FA0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422C5-8C73-B4A8-116D-05293088A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4716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E444A-EC4B-C054-81E8-1BFC60BBD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D7007-84BC-6966-2EEA-061A42334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7FD00-85E0-D143-56A1-6A91769C1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 err="1"/>
              <a:t>Handcrafted</a:t>
            </a:r>
            <a:r>
              <a:rPr lang="it-IT" b="1" dirty="0"/>
              <a:t> (SIFT):</a:t>
            </a:r>
            <a:r>
              <a:rPr lang="it-IT" dirty="0"/>
              <a:t> </a:t>
            </a:r>
            <a:r>
              <a:rPr lang="it-IT" dirty="0" err="1"/>
              <a:t>Handled</a:t>
            </a:r>
            <a:r>
              <a:rPr lang="it-IT" dirty="0"/>
              <a:t> scale/</a:t>
            </a:r>
            <a:r>
              <a:rPr lang="it-IT" dirty="0" err="1"/>
              <a:t>rotation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failed</a:t>
            </a:r>
            <a:r>
              <a:rPr lang="it-IT" dirty="0"/>
              <a:t> on </a:t>
            </a:r>
            <a:r>
              <a:rPr lang="it-IT" dirty="0" err="1"/>
              <a:t>overlapping</a:t>
            </a:r>
            <a:r>
              <a:rPr lang="it-IT" dirty="0"/>
              <a:t> products and packaging </a:t>
            </a:r>
            <a:r>
              <a:rPr lang="it-IT" dirty="0" err="1"/>
              <a:t>changes</a:t>
            </a:r>
            <a:r>
              <a:rPr lang="it-IT" dirty="0"/>
              <a:t>.</a:t>
            </a:r>
          </a:p>
          <a:p>
            <a:r>
              <a:rPr lang="it-IT" b="1" dirty="0"/>
              <a:t>Two-Stage (Faster R-CNN):</a:t>
            </a:r>
            <a:r>
              <a:rPr lang="it-IT" dirty="0"/>
              <a:t> </a:t>
            </a:r>
            <a:r>
              <a:rPr lang="it-IT" dirty="0" err="1"/>
              <a:t>Introduced</a:t>
            </a:r>
            <a:r>
              <a:rPr lang="it-IT" dirty="0"/>
              <a:t> Region </a:t>
            </a:r>
            <a:r>
              <a:rPr lang="it-IT" dirty="0" err="1"/>
              <a:t>Proposal</a:t>
            </a:r>
            <a:r>
              <a:rPr lang="it-IT" dirty="0"/>
              <a:t> Networks for high </a:t>
            </a:r>
            <a:r>
              <a:rPr lang="it-IT" dirty="0" err="1"/>
              <a:t>accuracy</a:t>
            </a:r>
            <a:r>
              <a:rPr lang="it-IT" dirty="0"/>
              <a:t>.</a:t>
            </a:r>
          </a:p>
          <a:p>
            <a:r>
              <a:rPr lang="it-IT" b="1" dirty="0"/>
              <a:t>Single-Stage (SSD / YOLO):</a:t>
            </a:r>
            <a:r>
              <a:rPr lang="it-IT" dirty="0"/>
              <a:t> End-to-end </a:t>
            </a:r>
            <a:r>
              <a:rPr lang="it-IT" dirty="0" err="1"/>
              <a:t>detection</a:t>
            </a:r>
            <a:r>
              <a:rPr lang="it-IT" dirty="0"/>
              <a:t> </a:t>
            </a:r>
            <a:r>
              <a:rPr lang="it-IT" dirty="0" err="1"/>
              <a:t>directly</a:t>
            </a:r>
            <a:r>
              <a:rPr lang="it-IT" dirty="0"/>
              <a:t> from images; </a:t>
            </a:r>
            <a:r>
              <a:rPr lang="it-IT" dirty="0" err="1"/>
              <a:t>ideal</a:t>
            </a:r>
            <a:br>
              <a:rPr lang="it-IT" dirty="0"/>
            </a:br>
            <a:r>
              <a:rPr lang="it-IT" dirty="0"/>
              <a:t>for real-time checkout speed.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644D4-2280-3DCE-9D95-DB350491F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871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67CD6-A55E-7912-65B2-7580917E2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09D15-54D4-92E8-617C-7CBFFF39C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190046-629B-FCC2-837B-D9CC96BCD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22194-CFFF-8ECC-277A-BF43B2983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629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7EBFD-C94F-8A6A-FB54-43BB2D96A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1E152-40D7-4E49-0AB3-EDF2A4ED5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4024A-14B7-61C3-F56A-007424373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849A7-AE35-72DF-0859-0F2D7405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8592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67EF3-4903-770F-3D93-E505F5224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E8719-68C7-314B-6ECF-5B62FA3CE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6A7A3-A85F-19C1-C5CE-A1D9D58FB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A7CE9-2895-0181-2426-E442D4DC9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8510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090E5-A43C-CF49-5F37-6501CA270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A9F11-9865-2780-D174-B8F1F324D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04A31-DB52-4F7A-CC5B-0482B4C0C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F1EFB-99FD-5E2F-0C6C-028AED38A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0968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42714-6CA4-0A38-3A6D-FD4E1612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170E4-5836-0FF8-509D-160706BB3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25FFC-8C1C-6377-48BA-9DE60F750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7E416-49EF-1966-89F5-8EEED4A30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3218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E0454-E7BC-D705-F61D-0482C4ED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F5097-3E80-9781-4A23-E422EA370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C021C-184B-2613-E741-B7D39C0DA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E27AD-7834-8944-F50A-00AAADCF5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730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BF5D6-6C6F-6F25-36D7-1A1F37581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1826D-8D5B-8826-A8F4-F9DFBB449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43EF2-45AD-B7F8-A3CD-C86AC363A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FF5B6-9AE0-3DC3-C4A5-B08FD87C1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9871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18992-38F1-4929-CA33-45023541E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1055C-2ED1-8917-7F18-2AD586884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AA128-3232-AB2A-EC86-0B6F34974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4F3B4-648D-01F2-2C08-EB24EF496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30390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38BE1-1FE8-50A8-0A27-E26C9E7A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DA947-D9B2-5342-E5F4-65E02B3DE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335DF-CEC4-3F62-4EE4-A147AB76F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323B2-0879-6D37-879E-230C45046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3924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DCC7E-1BB3-385A-BAB9-1C50D2C9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C2EC0-1E16-80AD-240A-13993B986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13038C-1881-0B06-340F-E79DBFD7C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3AC15-19B3-B1BB-B5B4-598D1C7AC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7054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FB63B-F1FC-0889-5531-14228F1C9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D3296-B2BD-C109-A299-96A8AFF8E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B2A46-9A4D-AB98-B98B-FBF3BFF36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AD8D4-D79C-A6E6-DCD2-D01EE2190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22873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C95E0-B9A0-ADDA-AC13-F8F63150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42B11-3687-F3F4-B76E-1617275A2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8B751-ACD8-CECD-CDD4-4EFFF6CFD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01394-F5DD-D532-2046-2E8F5428F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87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8D4D-32C8-C619-ACAC-1C11F2FEC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4D2CD6-F7CC-5A03-46BA-65EE3FAD8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2520C-AB31-32D0-28F5-FA0672054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BC6C1-7281-F2DF-88AD-DBF63248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471E1-974B-9B57-80FB-B65AE6AB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32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24FB-E121-1804-A68B-76093275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1F007-E1C1-E59F-F3FB-DC706FAA7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F06D6-E013-C05E-9C7B-C8C957F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05840" y="7574280"/>
            <a:ext cx="13624560" cy="655320"/>
          </a:xfrm>
          <a:solidFill>
            <a:schemeClr val="tx2"/>
          </a:solidFill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010D8-6002-A8F4-4D5E-E95C1D9C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7574282"/>
            <a:ext cx="1005840" cy="655319"/>
          </a:xfrm>
          <a:solidFill>
            <a:schemeClr val="tx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064EB808-9DE5-4B01-8298-DD0372440E09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682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91D7C-77AE-E08F-A431-309BDA94F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B671-3464-4301-C2F7-FCFA238D5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0B6E5-B8CE-4D71-F8E3-ACC98E65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BE147-B685-AEE8-8F87-72C5A12D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DEF5C-05F4-0FC6-CA1C-A108C086C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75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38E78-03D5-BB16-215F-C437D266F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C775D-B685-CAF0-3C27-52D357018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69DF9-898E-6EBB-37F8-93F5B5191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5B7A5-002A-E426-57CA-177151D58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B1ED3-AA76-3DE3-2E9A-24177434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6E4BA-174F-4F7C-4D01-AE0DEDAF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12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D14F8-AC16-062A-02BC-9C53B128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7D4D8-1840-933A-7EC6-959092D75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49A01-7143-7746-D1D3-8830F1642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A4FDF2-D8DF-7BC8-5F5B-4A71386D43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3DAD9-A7B4-22ED-B581-4E9C66594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BAA1B-405D-BB4B-3A14-816F7B10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10233-128D-943B-6A82-6986DD39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17291-A7AD-EED3-F282-EEC91B06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30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40BA-1863-2FFA-E73F-64FD3715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76D8F-0BF3-46FF-D83C-4CEF76C9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62A52-56A8-5A9A-503C-018A1395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2FDF4-75D9-642D-E08A-2BF68997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814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6A80A-9268-9641-6A4D-E8B548B2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378F6C-5654-05AB-6DE1-55139127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8B9C3-D6AD-1AAA-D0B9-0EB8E75E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84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E792-F9EF-5D98-723B-03C30B93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FC964-0B83-DFDE-0824-26DEB5917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A971F-743D-CC0E-C4C3-3001F71F2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363ED-1EB2-987E-7B7F-C0A62AC5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A18A9-5BE0-B91D-E9E2-DB9ADF522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F40B2-123B-AD71-6955-812C1677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094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0BC5-6005-F4CC-4CBB-A17C54308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9C2B4-4DC9-BA27-6321-EE3D9FBEC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025B6-CAFA-E9D2-4461-53F577E0B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36CAD-9A79-72B8-15D4-7732B214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F6F5E-559F-FB58-E3C4-6E69E7E43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CE32-2BFD-374D-7A90-D369D4D9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969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8624-EEEF-20FE-9B0E-F7A543AD3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81B93-8DF0-665E-4483-277B0C7E0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C5162-8676-C808-9A49-C99206E8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7840-CFD7-4D00-43AD-C18576D1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BB7ED-D096-47E1-7C0F-B69D0E21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543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F6703-86D6-70CF-EC9D-7D3372671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4A2C2-8214-EA24-CFBA-48FC24617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4A020-9B17-F443-8316-35E69CFA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075B0-6902-FA83-F852-34CD64D3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0F0E2-7D14-E612-20FD-A2B04155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9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0A2A69-4679-D2A5-C398-48C84D0C8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A7114-EA36-8529-ED0A-BD6E3335A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7DDCF-C16C-FCCC-8AC2-1AF909F4EF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877740" y="7682865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26200-65B6-EF43-2BB6-D11A147A9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" y="7579582"/>
            <a:ext cx="14630400" cy="655320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96455-1244-8EB7-F622-CE8CF0C79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1" y="7574280"/>
            <a:ext cx="908094" cy="655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</a:defRPr>
            </a:lvl1pPr>
          </a:lstStyle>
          <a:p>
            <a:pPr algn="ctr"/>
            <a:fld id="{064EB808-9DE5-4B01-8298-DD0372440E09}" type="slidenum">
              <a:rPr lang="en-US" smtClean="0"/>
              <a:pPr algn="ctr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7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1218" y="1382846"/>
            <a:ext cx="80869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4800" b="1">
                <a:solidFill>
                  <a:srgbClr val="820000"/>
                </a:solidFill>
              </a:defRPr>
            </a:pPr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Smart Checkout: Retail Product </a:t>
            </a:r>
            <a:r>
              <a:rPr lang="it-IT" sz="2800" dirty="0" err="1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2800" dirty="0" err="1">
                <a:latin typeface="Arial" panose="020B0604020202020204" pitchFamily="34" charset="0"/>
                <a:cs typeface="Arial" panose="020B0604020202020204" pitchFamily="34" charset="0"/>
              </a:rPr>
              <a:t>Automatic</a:t>
            </a:r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 Checkout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624560" y="774496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1</a:t>
            </a:r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DB976473-A796-4E73-FC21-115B458B6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485" y="0"/>
            <a:ext cx="6172200" cy="8229600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7E42556D-99A5-0721-3211-77AE7D3E1472}"/>
              </a:ext>
            </a:extLst>
          </p:cNvPr>
          <p:cNvSpPr txBox="1">
            <a:spLocks/>
          </p:cNvSpPr>
          <p:nvPr/>
        </p:nvSpPr>
        <p:spPr>
          <a:xfrm>
            <a:off x="464347" y="2600735"/>
            <a:ext cx="8926263" cy="3348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Bachelor’s Degree Programme in Informatica</a:t>
            </a:r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90555DAD-DFA3-E756-6A0D-294D20C8CA6D}"/>
              </a:ext>
            </a:extLst>
          </p:cNvPr>
          <p:cNvSpPr txBox="1"/>
          <p:nvPr/>
        </p:nvSpPr>
        <p:spPr>
          <a:xfrm>
            <a:off x="464950" y="7210309"/>
            <a:ext cx="15720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020"/>
                </a:solidFill>
              </a:defRPr>
            </a:pPr>
            <a:r>
              <a:rPr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A.Y. 2025/2026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3A23DD99-6430-864B-9F1F-AF47F5649B68}"/>
              </a:ext>
            </a:extLst>
          </p:cNvPr>
          <p:cNvSpPr txBox="1">
            <a:spLocks/>
          </p:cNvSpPr>
          <p:nvPr/>
        </p:nvSpPr>
        <p:spPr>
          <a:xfrm>
            <a:off x="468479" y="2980599"/>
            <a:ext cx="8929220" cy="33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1FC1CC2A-BE86-2DE3-69F1-D957AB49F68B}"/>
              </a:ext>
            </a:extLst>
          </p:cNvPr>
          <p:cNvSpPr txBox="1">
            <a:spLocks/>
          </p:cNvSpPr>
          <p:nvPr/>
        </p:nvSpPr>
        <p:spPr>
          <a:xfrm>
            <a:off x="468236" y="3826398"/>
            <a:ext cx="8929220" cy="33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Shuang Dai (dai.2104150@studenti.uniroma1.it)</a:t>
            </a:r>
          </a:p>
          <a:p>
            <a:pPr algn="l"/>
            <a:endParaRPr lang="en-US" sz="1800" dirty="0">
              <a:solidFill>
                <a:srgbClr val="82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ACDC7525-862D-6825-7F83-F9612C2005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AB6D99D0-AD8A-8D75-1184-B15FA95669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6B1135-D3D5-821B-3C54-0586D9F14115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it-IT" sz="3360" dirty="0">
                <a:ln w="0"/>
                <a:solidFill>
                  <a:prstClr val="white"/>
                </a:solidFill>
                <a:latin typeface="Arial" panose="020B0604020202020204"/>
              </a:rPr>
              <a:t>Table of Contents</a:t>
            </a:r>
            <a:endParaRPr lang="en-US" sz="3360" dirty="0">
              <a:ln w="0"/>
              <a:solidFill>
                <a:prstClr val="white"/>
              </a:solidFill>
              <a:latin typeface="Arial" panose="020B0604020202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DE0E78-87DB-393C-11F6-8C0A6F93DFA9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white"/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Problem and Motivation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Related Work and Gap with Respect to the State of the Art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Proposed Solution and Our Contribution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Dataset and Experimental Protocol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Critical Discussion and Limitations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2824033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4C2D9-F5EB-2FE5-7178-63818FE8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96B7BA1-CF44-A572-2129-32353BD02488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1A1CA9D-D7A7-CEB5-E37E-52150B385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3</a:t>
            </a:fld>
            <a:r>
              <a:rPr lang="en-US" dirty="0"/>
              <a:t>/19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38B2124-B212-8386-9A95-E948C3857616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74AB286C-60E6-FCE1-6C71-969A71FA04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89281F9C-FE4C-B132-451C-AB0FC1C1B82E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>
                <a:ln w="0"/>
                <a:solidFill>
                  <a:schemeClr val="tx2"/>
                </a:solidFill>
              </a:rPr>
              <a:t>Automatic</a:t>
            </a:r>
            <a:r>
              <a:rPr lang="it-IT" sz="2800" b="1" dirty="0">
                <a:ln w="0"/>
                <a:solidFill>
                  <a:schemeClr val="tx2"/>
                </a:solidFill>
              </a:rPr>
              <a:t> Checkout From a Single Image</a:t>
            </a:r>
            <a:endParaRPr lang="en-US" sz="2800" b="1" dirty="0">
              <a:ln w="0"/>
              <a:solidFill>
                <a:schemeClr val="tx2"/>
              </a:solidFill>
            </a:endParaRP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EA1229F5-145D-157C-5851-2F086615A806}"/>
              </a:ext>
            </a:extLst>
          </p:cNvPr>
          <p:cNvSpPr txBox="1"/>
          <p:nvPr/>
        </p:nvSpPr>
        <p:spPr>
          <a:xfrm>
            <a:off x="1835956" y="163805"/>
            <a:ext cx="12330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tx2"/>
                </a:solidFill>
              </a:rPr>
              <a:t>Context ●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81DD4589-4BCB-1EAC-A110-F8879313829F}"/>
              </a:ext>
            </a:extLst>
          </p:cNvPr>
          <p:cNvSpPr txBox="1"/>
          <p:nvPr/>
        </p:nvSpPr>
        <p:spPr>
          <a:xfrm>
            <a:off x="8115299" y="2295513"/>
            <a:ext cx="60512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 err="1"/>
              <a:t>Traditional</a:t>
            </a:r>
            <a:r>
              <a:rPr lang="it-IT" sz="2400" dirty="0"/>
              <a:t> </a:t>
            </a:r>
            <a:r>
              <a:rPr lang="it-IT" sz="2400" dirty="0" err="1"/>
              <a:t>barcode</a:t>
            </a:r>
            <a:r>
              <a:rPr lang="it-IT" sz="2400" dirty="0"/>
              <a:t> scanning </a:t>
            </a:r>
            <a:r>
              <a:rPr lang="it-IT" sz="2400" dirty="0" err="1"/>
              <a:t>at</a:t>
            </a:r>
            <a:r>
              <a:rPr lang="it-IT" sz="2400" dirty="0"/>
              <a:t> checkouts </a:t>
            </a:r>
            <a:r>
              <a:rPr lang="it-IT" sz="2400" dirty="0" err="1"/>
              <a:t>is</a:t>
            </a:r>
            <a:r>
              <a:rPr lang="it-IT" sz="2400" dirty="0"/>
              <a:t> slow, </a:t>
            </a:r>
            <a:r>
              <a:rPr lang="it-IT" sz="2400" dirty="0" err="1"/>
              <a:t>labor</a:t>
            </a:r>
            <a:r>
              <a:rPr lang="it-IT" sz="2400" dirty="0"/>
              <a:t>-intensive, and prone to human </a:t>
            </a:r>
            <a:r>
              <a:rPr lang="it-IT" sz="2400" dirty="0" err="1"/>
              <a:t>error</a:t>
            </a:r>
            <a:r>
              <a:rPr lang="it-IT" sz="2400" dirty="0"/>
              <a:t>, </a:t>
            </a:r>
            <a:r>
              <a:rPr lang="it-IT" sz="2400" dirty="0" err="1"/>
              <a:t>especially</a:t>
            </a:r>
            <a:r>
              <a:rPr lang="it-IT" sz="2400" dirty="0"/>
              <a:t> </a:t>
            </a:r>
            <a:r>
              <a:rPr lang="it-IT" sz="2400" dirty="0" err="1"/>
              <a:t>during</a:t>
            </a:r>
            <a:r>
              <a:rPr lang="it-IT" sz="2400" dirty="0"/>
              <a:t> </a:t>
            </a:r>
            <a:r>
              <a:rPr lang="it-IT" sz="2400" dirty="0" err="1"/>
              <a:t>peak</a:t>
            </a:r>
            <a:r>
              <a:rPr lang="it-IT" sz="2400" dirty="0"/>
              <a:t> hours.</a:t>
            </a:r>
            <a:endParaRPr lang="it-IT" sz="2400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37F83E1F-0D4F-E587-97AB-B1933CE7A09A}"/>
              </a:ext>
            </a:extLst>
          </p:cNvPr>
          <p:cNvSpPr txBox="1"/>
          <p:nvPr/>
        </p:nvSpPr>
        <p:spPr>
          <a:xfrm>
            <a:off x="8115299" y="1767753"/>
            <a:ext cx="6051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Retail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Friction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9F26ADE-A830-29F3-BF0E-6E2000C24E48}"/>
              </a:ext>
            </a:extLst>
          </p:cNvPr>
          <p:cNvSpPr txBox="1"/>
          <p:nvPr/>
        </p:nvSpPr>
        <p:spPr>
          <a:xfrm>
            <a:off x="8115299" y="4780280"/>
            <a:ext cx="60512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Given one image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containing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multiple products,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identify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every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item and produce a complete checkout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result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5C37399-5DD7-369A-7A65-D24333E8ED3D}"/>
              </a:ext>
            </a:extLst>
          </p:cNvPr>
          <p:cNvSpPr txBox="1"/>
          <p:nvPr/>
        </p:nvSpPr>
        <p:spPr>
          <a:xfrm>
            <a:off x="8115299" y="4252520"/>
            <a:ext cx="6051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Goal:</a:t>
            </a:r>
          </a:p>
        </p:txBody>
      </p:sp>
      <p:pic>
        <p:nvPicPr>
          <p:cNvPr id="8" name="Immagine 7" descr="Grocery Store Register Images – Browse 13,345 Stock Photos, Vectors, and  Video | Adobe Stock">
            <a:extLst>
              <a:ext uri="{FF2B5EF4-FFF2-40B4-BE49-F238E27FC236}">
                <a16:creationId xmlns:a16="http://schemas.microsoft.com/office/drawing/2014/main" id="{765996D8-8E70-EE76-3C49-A602E2820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95" y="1703863"/>
            <a:ext cx="7843836" cy="463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6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DAD2A-5CE8-279B-79A8-6FEFE80A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7A86F21A-BBD9-B76B-B216-CA7973C621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6D6F76EB-81A3-06D3-1AC7-7C8B979C093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205743-7E30-D608-6608-47747FF259A1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4B172-48C9-802E-AEBD-A077FB269957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686789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31A0E-AF5C-970F-0319-6DAA06BEB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7861BF0-18E7-5760-ABB0-FB2E4DFB802C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497E21E-1A55-C1EA-C7EC-7B7ED54D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5</a:t>
            </a:fld>
            <a:r>
              <a:rPr lang="en-US" dirty="0"/>
              <a:t>/19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CB61073-7028-DA3D-A5AA-557E1F04715E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1C323C89-84E6-7A86-1C76-C3B7278AA0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DA9B1CB9-F1CD-4082-3A3B-F47A53919F89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Challenges in Automatic Checkout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7875F24C-3600-659F-65CE-9FB37D6DF32F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tx2"/>
                </a:solidFill>
              </a:rPr>
              <a:t>Problem and Motivation </a:t>
            </a:r>
            <a:r>
              <a:rPr lang="en-GB" dirty="0">
                <a:solidFill>
                  <a:schemeClr val="tx2"/>
                </a:solidFill>
              </a:rPr>
              <a:t>●○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4583A93-743B-66B8-5878-507985774DAD}"/>
              </a:ext>
            </a:extLst>
          </p:cNvPr>
          <p:cNvSpPr txBox="1"/>
          <p:nvPr/>
        </p:nvSpPr>
        <p:spPr>
          <a:xfrm>
            <a:off x="7657106" y="2198235"/>
            <a:ext cx="6701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The scene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may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contain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many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instances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,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including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repeated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products and small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occluded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objects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FB25F948-F3EE-59DF-C04B-21C2D6F8BF1B}"/>
              </a:ext>
            </a:extLst>
          </p:cNvPr>
          <p:cNvSpPr txBox="1"/>
          <p:nvPr/>
        </p:nvSpPr>
        <p:spPr>
          <a:xfrm>
            <a:off x="7657106" y="1670475"/>
            <a:ext cx="5821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Multiple products in one Image</a:t>
            </a: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75558CB1-94D4-7D21-FC9B-BEA7A57BA59B}"/>
              </a:ext>
            </a:extLst>
          </p:cNvPr>
          <p:cNvSpPr txBox="1"/>
          <p:nvPr/>
        </p:nvSpPr>
        <p:spPr>
          <a:xfrm>
            <a:off x="7657106" y="3980466"/>
            <a:ext cx="58211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A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missed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or extra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detection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changes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the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quantity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and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therefor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the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final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price.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1AADAF67-1CE7-492C-9654-CFA88165C081}"/>
              </a:ext>
            </a:extLst>
          </p:cNvPr>
          <p:cNvSpPr txBox="1"/>
          <p:nvPr/>
        </p:nvSpPr>
        <p:spPr>
          <a:xfrm>
            <a:off x="7657106" y="5477722"/>
            <a:ext cx="58211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High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mAP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alone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does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not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guarantee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that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an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entire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basket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is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correctly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prstClr val="black"/>
                </a:solidFill>
                <a:latin typeface="Arial" panose="020B0604020202020204"/>
              </a:rPr>
              <a:t>checked</a:t>
            </a:r>
            <a:r>
              <a:rPr lang="it-IT" sz="2400" dirty="0">
                <a:solidFill>
                  <a:prstClr val="black"/>
                </a:solidFill>
                <a:latin typeface="Arial" panose="020B0604020202020204"/>
              </a:rPr>
              <a:t> out.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CBFEE1A-F9A6-6D95-EF84-95A68E60B3AB}"/>
              </a:ext>
            </a:extLst>
          </p:cNvPr>
          <p:cNvSpPr txBox="1"/>
          <p:nvPr/>
        </p:nvSpPr>
        <p:spPr>
          <a:xfrm>
            <a:off x="7657106" y="3458682"/>
            <a:ext cx="5821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Detection</a:t>
            </a:r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errors</a:t>
            </a:r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affect</a:t>
            </a:r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 the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receipt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2A7DA28-49C4-2CE8-DB62-E6149B2F4FA3}"/>
              </a:ext>
            </a:extLst>
          </p:cNvPr>
          <p:cNvSpPr txBox="1"/>
          <p:nvPr/>
        </p:nvSpPr>
        <p:spPr>
          <a:xfrm>
            <a:off x="7657106" y="4976152"/>
            <a:ext cx="5821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End-to-end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correctness</a:t>
            </a:r>
            <a:r>
              <a:rPr lang="it-IT" sz="2400" dirty="0">
                <a:solidFill>
                  <a:schemeClr val="tx2"/>
                </a:solidFill>
                <a:latin typeface="Arial" panose="020B0604020202020204"/>
              </a:rPr>
              <a:t> </a:t>
            </a:r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matters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CF79C12-CD62-877A-C2A4-9B425B3DD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5294" y="1717747"/>
            <a:ext cx="7772400" cy="484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49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B6A6F-51CE-D6C8-5672-B5B9E5ADC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801CDA2C-BE6F-A5FF-939A-0D19A01DA96F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B570427-F79F-22A9-8BB4-558D1357A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6</a:t>
            </a:fld>
            <a:r>
              <a:rPr lang="en-US" dirty="0"/>
              <a:t>/19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99814C5-25AB-A6B7-5937-CF159E779629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F154CBC9-7AD1-B183-5893-B81B703FDB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4474AAE7-D485-05FE-86E4-ED7704596448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From Detection to Checkout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A988B75F-D608-20D4-3188-691FD1425538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tx2"/>
                </a:solidFill>
              </a:rPr>
              <a:t>Problem and Motivation ○</a:t>
            </a:r>
            <a:r>
              <a:rPr lang="en-GB" dirty="0">
                <a:solidFill>
                  <a:schemeClr val="tx2"/>
                </a:solidFill>
              </a:rPr>
              <a:t>●</a:t>
            </a:r>
            <a:endParaRPr lang="en-GB" noProof="0" dirty="0">
              <a:solidFill>
                <a:schemeClr val="tx2"/>
              </a:solidFill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1EA10B4-C372-323B-66E9-DFE0719E71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435" b="26597"/>
          <a:stretch>
            <a:fillRect/>
          </a:stretch>
        </p:blipFill>
        <p:spPr>
          <a:xfrm>
            <a:off x="733799" y="1308159"/>
            <a:ext cx="13162802" cy="561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04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1C51FB-3113-BF04-CE67-AFC24EFA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4F88C3C1-B306-91E6-6E51-74137EB887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BD239DCC-C9D5-BA3F-3F2D-C0C8059126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697087-8038-56D0-36E4-AB28787D42CC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F90361-59E1-3D9A-A6C3-0BF6A916C828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872221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11206A-15C0-AF4D-DCCF-F1A7620AC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EAAB4F86-756F-6FCA-CE1D-E800AC349199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F88DDD4-878D-BF6E-1158-B6855AA4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8</a:t>
            </a:fld>
            <a:r>
              <a:rPr lang="en-US" dirty="0"/>
              <a:t>/19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94087E6-89CB-9397-385E-5EB69E5F53FE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FFDD7C91-D1DF-AF5D-D4D6-238572C8A7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6B330B5F-52CE-702F-028B-0E28D8A38A74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Related Work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360A5303-2E71-90B6-B184-A4D97EB59578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Related Work and Gap with Respect to the State of the Art </a:t>
            </a:r>
            <a:r>
              <a:rPr lang="en-GB" dirty="0">
                <a:solidFill>
                  <a:schemeClr val="tx2"/>
                </a:solidFill>
              </a:rPr>
              <a:t>●○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32FC770-B9DE-1C12-A87A-9D47A728DAD2}"/>
              </a:ext>
            </a:extLst>
          </p:cNvPr>
          <p:cNvSpPr txBox="1"/>
          <p:nvPr/>
        </p:nvSpPr>
        <p:spPr>
          <a:xfrm>
            <a:off x="6308597" y="2295513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endParaRPr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395DE82-734F-A8F7-565D-EA784654ECB3}"/>
              </a:ext>
            </a:extLst>
          </p:cNvPr>
          <p:cNvSpPr txBox="1"/>
          <p:nvPr/>
        </p:nvSpPr>
        <p:spPr>
          <a:xfrm>
            <a:off x="6308597" y="1767753"/>
            <a:ext cx="7857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A516F97-1D0A-3ACF-07BC-870ECB9AF7C1}"/>
              </a:ext>
            </a:extLst>
          </p:cNvPr>
          <p:cNvSpPr txBox="1"/>
          <p:nvPr/>
        </p:nvSpPr>
        <p:spPr>
          <a:xfrm>
            <a:off x="6308597" y="3590565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endParaRPr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7B2586E-987C-7E0A-04D3-CFCC49CF975A}"/>
              </a:ext>
            </a:extLst>
          </p:cNvPr>
          <p:cNvSpPr txBox="1"/>
          <p:nvPr/>
        </p:nvSpPr>
        <p:spPr>
          <a:xfrm>
            <a:off x="3657600" y="3944421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DB031D97-2D90-348B-83B0-2D00C01078BD}"/>
              </a:ext>
            </a:extLst>
          </p:cNvPr>
          <p:cNvSpPr txBox="1"/>
          <p:nvPr/>
        </p:nvSpPr>
        <p:spPr>
          <a:xfrm>
            <a:off x="3657600" y="3944421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912F4012-E929-3608-BC94-D3EA2AA23C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415" b="21095"/>
          <a:stretch>
            <a:fillRect/>
          </a:stretch>
        </p:blipFill>
        <p:spPr>
          <a:xfrm>
            <a:off x="-151166" y="1868322"/>
            <a:ext cx="14932731" cy="516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706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381AC7-E6B1-5326-9C2A-685E4442C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0B7784F-2EA3-A268-F394-024C7180EBA0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7BB4491-6E93-A9A4-FC8B-120C1BAF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9</a:t>
            </a:fld>
            <a:r>
              <a:rPr lang="en-US" dirty="0"/>
              <a:t>/19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1D7F307-43C1-2AB5-6066-9F5F97FB2A32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32730586-E142-18A2-FB74-A6FAC01668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C2F93476-B293-FDB9-B209-64E1A8C0880A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Gap: Detection Is Not the Final Checkout Decision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ECD0E9A1-708B-CBE9-BD6F-4916E87C2E69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Related Work and Gap with Respect to the State of the Art </a:t>
            </a:r>
            <a:r>
              <a:rPr lang="en-GB" dirty="0">
                <a:solidFill>
                  <a:schemeClr val="tx2"/>
                </a:solidFill>
              </a:rPr>
              <a:t>○●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14" name="TextBox 31">
            <a:extLst>
              <a:ext uri="{FF2B5EF4-FFF2-40B4-BE49-F238E27FC236}">
                <a16:creationId xmlns:a16="http://schemas.microsoft.com/office/drawing/2014/main" id="{DE412243-EF0D-9CF9-C6AE-9C68012845B7}"/>
              </a:ext>
            </a:extLst>
          </p:cNvPr>
          <p:cNvSpPr txBox="1"/>
          <p:nvPr/>
        </p:nvSpPr>
        <p:spPr>
          <a:xfrm>
            <a:off x="7658100" y="1886092"/>
            <a:ext cx="6700838" cy="456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92332"/>
                </a:solidFill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Many object-detection pipelines stop after bounding boxes and class labels.</a:t>
            </a:r>
          </a:p>
          <a:p>
            <a:pPr>
              <a:spcAft>
                <a:spcPts val="800"/>
              </a:spcAft>
              <a:defRPr sz="1900">
                <a:solidFill>
                  <a:srgbClr val="192332"/>
                </a:solidFill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A checkout system must additionally aggregate repeated SKU detections.</a:t>
            </a:r>
          </a:p>
          <a:p>
            <a:pPr>
              <a:spcAft>
                <a:spcPts val="800"/>
              </a:spcAft>
              <a:defRPr sz="1900">
                <a:solidFill>
                  <a:srgbClr val="192332"/>
                </a:solidFill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The recognized SKU must be mapped to a unit price before the amount can be calculated.</a:t>
            </a:r>
          </a:p>
          <a:p>
            <a:pPr>
              <a:spcAft>
                <a:spcPts val="800"/>
              </a:spcAft>
              <a:defRPr sz="1900">
                <a:solidFill>
                  <a:srgbClr val="192332"/>
                </a:solidFill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We therefore report strict checkout accuracy (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cAcc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) in addition to Precision, Recall, and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800"/>
              </a:spcAft>
              <a:defRPr sz="1900">
                <a:solidFill>
                  <a:srgbClr val="192332"/>
                </a:solidFill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The contribution is an end-to-end image-to-receipt workflow using a standard YOLO detector plus deterministic post-processing.</a:t>
            </a:r>
          </a:p>
        </p:txBody>
      </p:sp>
      <p:pic>
        <p:nvPicPr>
          <p:cNvPr id="15" name="Immagine 14" descr="Fill the gap stamp hi-res stock photography and images - Alamy">
            <a:extLst>
              <a:ext uri="{FF2B5EF4-FFF2-40B4-BE49-F238E27FC236}">
                <a16:creationId xmlns:a16="http://schemas.microsoft.com/office/drawing/2014/main" id="{2F3B0DD3-2DDA-AFAB-4BE5-F69A2CB4EA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502"/>
          <a:stretch>
            <a:fillRect/>
          </a:stretch>
        </p:blipFill>
        <p:spPr>
          <a:xfrm>
            <a:off x="1150155" y="1690497"/>
            <a:ext cx="5188897" cy="495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02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E0AB4-E197-DB9F-F15E-1F42FEE64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16A5E0A8-F1A7-91EC-4F86-809EF15117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2580192E-BFB5-DF3E-0265-DAE74C27D54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6B7405-B9E5-DBA0-3EE5-A250DCAEE23E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B52DB3-93F8-A26A-08B8-6A1D5C508E88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782460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C452E-911F-89CC-17C7-1553B818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F94BFF0B-BF65-A5F9-D8B9-73D9BC4ED317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8894035-3660-DB01-F100-2A622687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11</a:t>
            </a:fld>
            <a:r>
              <a:rPr lang="en-US" dirty="0"/>
              <a:t>/19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B5C3F18-7304-A454-DB29-4854EB331A0C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75FCE344-075D-1E0C-1D3D-BB46211460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8C55FBE4-B299-DB1C-1F33-63382AF72D46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A Vision-Based Pipeline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CC525DB-44AC-8DB3-CF56-DB07540AB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13" y="1086243"/>
            <a:ext cx="13589594" cy="6590646"/>
          </a:xfrm>
          <a:prstGeom prst="rect">
            <a:avLst/>
          </a:prstGeom>
        </p:spPr>
      </p:pic>
      <p:sp>
        <p:nvSpPr>
          <p:cNvPr id="31" name="TextBox 15">
            <a:extLst>
              <a:ext uri="{FF2B5EF4-FFF2-40B4-BE49-F238E27FC236}">
                <a16:creationId xmlns:a16="http://schemas.microsoft.com/office/drawing/2014/main" id="{5547B6CB-5D21-A896-BBFA-CF3EBE486F05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Proposed Solution and Our Contribution </a:t>
            </a:r>
            <a:r>
              <a:rPr lang="en-GB" dirty="0">
                <a:solidFill>
                  <a:schemeClr val="tx2"/>
                </a:solidFill>
              </a:rPr>
              <a:t>●○</a:t>
            </a:r>
            <a:endParaRPr lang="en-GB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961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835FF-F95B-44EC-293E-448D452FD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 descr="No description has been provided for this image">
            <a:extLst>
              <a:ext uri="{FF2B5EF4-FFF2-40B4-BE49-F238E27FC236}">
                <a16:creationId xmlns:a16="http://schemas.microsoft.com/office/drawing/2014/main" id="{D79DE952-4B69-00FC-55D0-0DAE49F07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129"/>
          <a:stretch>
            <a:fillRect/>
          </a:stretch>
        </p:blipFill>
        <p:spPr>
          <a:xfrm>
            <a:off x="-15269" y="1263031"/>
            <a:ext cx="8119581" cy="6052169"/>
          </a:xfrm>
          <a:prstGeom prst="rect">
            <a:avLst/>
          </a:prstGeom>
        </p:spPr>
      </p:pic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E1308CC8-6AE8-15E2-7EF6-C5944991785F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7891DB-57BA-BDFD-D47A-57FCC14DA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12</a:t>
            </a:fld>
            <a:r>
              <a:rPr lang="en-US" dirty="0"/>
              <a:t>/19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85E1595-A9E9-54B2-6AC3-C52620A101C8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DB1210D5-A09A-15C5-DF89-C726674B84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30D26CA6-A341-9D79-E88F-F57437EA23B0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Detection, Counting, and Price Calculation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5C5E3A8F-0B2B-D1C9-CC1F-C3955779D976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Proposed Solution and Our Contribution </a:t>
            </a:r>
            <a:r>
              <a:rPr lang="en-GB" dirty="0">
                <a:solidFill>
                  <a:schemeClr val="tx2"/>
                </a:solidFill>
              </a:rPr>
              <a:t>○●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C71638C-D4C9-BC5E-6881-BC2832666A5B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10" name="TextBox 31">
            <a:extLst>
              <a:ext uri="{FF2B5EF4-FFF2-40B4-BE49-F238E27FC236}">
                <a16:creationId xmlns:a16="http://schemas.microsoft.com/office/drawing/2014/main" id="{5AE794E7-E4DC-3454-7B34-61594263AB4C}"/>
              </a:ext>
            </a:extLst>
          </p:cNvPr>
          <p:cNvSpPr txBox="1"/>
          <p:nvPr/>
        </p:nvSpPr>
        <p:spPr>
          <a:xfrm>
            <a:off x="10235175" y="1062144"/>
            <a:ext cx="299815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5BA4"/>
                </a:solidFill>
              </a:defRPr>
            </a:pPr>
            <a:r>
              <a:rPr dirty="0"/>
              <a:t>1. YOLO11 detection</a:t>
            </a:r>
          </a:p>
          <a:p>
            <a:pPr>
              <a:spcBef>
                <a:spcPts val="600"/>
              </a:spcBef>
              <a:defRPr sz="1500">
                <a:solidFill>
                  <a:srgbClr val="192332"/>
                </a:solidFill>
              </a:defRPr>
            </a:pPr>
            <a:r>
              <a:rPr dirty="0"/>
              <a:t>Outputs bounding boxes and SKU class labels for the 200-product vocabulary.</a:t>
            </a:r>
          </a:p>
        </p:txBody>
      </p:sp>
      <p:sp>
        <p:nvSpPr>
          <p:cNvPr id="12" name="TextBox 32">
            <a:extLst>
              <a:ext uri="{FF2B5EF4-FFF2-40B4-BE49-F238E27FC236}">
                <a16:creationId xmlns:a16="http://schemas.microsoft.com/office/drawing/2014/main" id="{AAE5F631-1540-2F37-B928-6F19DEC0ACE3}"/>
              </a:ext>
            </a:extLst>
          </p:cNvPr>
          <p:cNvSpPr txBox="1"/>
          <p:nvPr/>
        </p:nvSpPr>
        <p:spPr>
          <a:xfrm>
            <a:off x="8775262" y="2396801"/>
            <a:ext cx="2791887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5BA4"/>
                </a:solidFill>
              </a:defRPr>
            </a:pPr>
            <a:r>
              <a:rPr dirty="0"/>
              <a:t>2. SKU aggregation</a:t>
            </a:r>
          </a:p>
          <a:p>
            <a:pPr>
              <a:spcBef>
                <a:spcPts val="600"/>
              </a:spcBef>
              <a:defRPr sz="1500">
                <a:solidFill>
                  <a:srgbClr val="192332"/>
                </a:solidFill>
              </a:defRPr>
            </a:pPr>
            <a:r>
              <a:rPr dirty="0"/>
              <a:t>Group detections by SKU and count repeated instances.</a:t>
            </a:r>
          </a:p>
        </p:txBody>
      </p:sp>
      <p:sp>
        <p:nvSpPr>
          <p:cNvPr id="13" name="TextBox 33">
            <a:extLst>
              <a:ext uri="{FF2B5EF4-FFF2-40B4-BE49-F238E27FC236}">
                <a16:creationId xmlns:a16="http://schemas.microsoft.com/office/drawing/2014/main" id="{F40606BD-2EDC-C9BA-2F72-952F22FAC7C4}"/>
              </a:ext>
            </a:extLst>
          </p:cNvPr>
          <p:cNvSpPr txBox="1"/>
          <p:nvPr/>
        </p:nvSpPr>
        <p:spPr>
          <a:xfrm>
            <a:off x="12238099" y="2452276"/>
            <a:ext cx="2383157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5BA4"/>
                </a:solidFill>
              </a:defRPr>
            </a:pPr>
            <a:r>
              <a:rPr dirty="0"/>
              <a:t>3. Price lookup</a:t>
            </a:r>
          </a:p>
          <a:p>
            <a:pPr>
              <a:spcBef>
                <a:spcPts val="600"/>
              </a:spcBef>
              <a:defRPr sz="1500">
                <a:solidFill>
                  <a:srgbClr val="192332"/>
                </a:solidFill>
              </a:defRPr>
            </a:pPr>
            <a:r>
              <a:rPr dirty="0"/>
              <a:t>Map each SKU to its simulated unit price.</a:t>
            </a:r>
          </a:p>
        </p:txBody>
      </p:sp>
      <p:sp>
        <p:nvSpPr>
          <p:cNvPr id="14" name="TextBox 34">
            <a:extLst>
              <a:ext uri="{FF2B5EF4-FFF2-40B4-BE49-F238E27FC236}">
                <a16:creationId xmlns:a16="http://schemas.microsoft.com/office/drawing/2014/main" id="{D94C7E67-5C67-1FC6-57DA-461293F64F72}"/>
              </a:ext>
            </a:extLst>
          </p:cNvPr>
          <p:cNvSpPr txBox="1"/>
          <p:nvPr/>
        </p:nvSpPr>
        <p:spPr>
          <a:xfrm>
            <a:off x="8750234" y="4079811"/>
            <a:ext cx="338899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5BA4"/>
                </a:solidFill>
              </a:defRPr>
            </a:pPr>
            <a:r>
              <a:rPr dirty="0"/>
              <a:t>4. Line total</a:t>
            </a:r>
          </a:p>
          <a:p>
            <a:pPr>
              <a:spcBef>
                <a:spcPts val="600"/>
              </a:spcBef>
              <a:defRPr sz="1600">
                <a:solidFill>
                  <a:srgbClr val="192332"/>
                </a:solidFill>
              </a:defRPr>
            </a:pPr>
            <a:r>
              <a:rPr dirty="0"/>
              <a:t>Line total = unit price × quantity.</a:t>
            </a:r>
          </a:p>
        </p:txBody>
      </p:sp>
      <p:sp>
        <p:nvSpPr>
          <p:cNvPr id="15" name="TextBox 35">
            <a:extLst>
              <a:ext uri="{FF2B5EF4-FFF2-40B4-BE49-F238E27FC236}">
                <a16:creationId xmlns:a16="http://schemas.microsoft.com/office/drawing/2014/main" id="{EE18B0C0-8184-70D7-F401-F421C240456A}"/>
              </a:ext>
            </a:extLst>
          </p:cNvPr>
          <p:cNvSpPr txBox="1"/>
          <p:nvPr/>
        </p:nvSpPr>
        <p:spPr>
          <a:xfrm>
            <a:off x="12243241" y="4113548"/>
            <a:ext cx="237801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5BA4"/>
                </a:solidFill>
              </a:defRPr>
            </a:pPr>
            <a:r>
              <a:rPr dirty="0"/>
              <a:t>5. Final total</a:t>
            </a:r>
          </a:p>
          <a:p>
            <a:pPr>
              <a:spcBef>
                <a:spcPts val="600"/>
              </a:spcBef>
              <a:defRPr sz="1600">
                <a:solidFill>
                  <a:srgbClr val="192332"/>
                </a:solidFill>
              </a:defRPr>
            </a:pPr>
            <a:r>
              <a:rPr dirty="0"/>
              <a:t>Total amount = sum of all line totals.</a:t>
            </a:r>
          </a:p>
        </p:txBody>
      </p:sp>
      <p:sp>
        <p:nvSpPr>
          <p:cNvPr id="16" name="TextBox 36">
            <a:extLst>
              <a:ext uri="{FF2B5EF4-FFF2-40B4-BE49-F238E27FC236}">
                <a16:creationId xmlns:a16="http://schemas.microsoft.com/office/drawing/2014/main" id="{84557EE3-E4F6-E20A-DC81-7E10A9F29083}"/>
              </a:ext>
            </a:extLst>
          </p:cNvPr>
          <p:cNvSpPr txBox="1"/>
          <p:nvPr/>
        </p:nvSpPr>
        <p:spPr>
          <a:xfrm>
            <a:off x="10228286" y="5425859"/>
            <a:ext cx="300504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5BA4"/>
                </a:solidFill>
              </a:defRPr>
            </a:pPr>
            <a:r>
              <a:rPr lang="it-IT" dirty="0"/>
              <a:t>6. </a:t>
            </a:r>
            <a:r>
              <a:rPr dirty="0"/>
              <a:t>Output</a:t>
            </a:r>
          </a:p>
          <a:p>
            <a:pPr>
              <a:spcBef>
                <a:spcPts val="600"/>
              </a:spcBef>
              <a:defRPr sz="1600">
                <a:solidFill>
                  <a:srgbClr val="192332"/>
                </a:solidFill>
              </a:defRPr>
            </a:pPr>
            <a:r>
              <a:rPr dirty="0"/>
              <a:t>Annotated image + checkout table + total amount.</a:t>
            </a:r>
          </a:p>
        </p:txBody>
      </p:sp>
    </p:spTree>
    <p:extLst>
      <p:ext uri="{BB962C8B-B14F-4D97-AF65-F5344CB8AC3E}">
        <p14:creationId xmlns:p14="http://schemas.microsoft.com/office/powerpoint/2010/main" val="3344034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9BDF8-0FCB-8BAE-6A56-89547DFD8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2FB14C83-549A-3113-3796-B5D24CB5C2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42110106-6A5D-1957-ACC6-14FB736D15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2181CA-9A6E-A0E9-2AC0-86CF5D06032A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88888-3615-7E99-3848-7052CF64AA40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2392688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E01B3-2F72-CF0E-081C-DD14DAA30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53F8916-7716-B83A-9833-49F136A4C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49" y="1422760"/>
            <a:ext cx="6194810" cy="5384080"/>
          </a:xfrm>
          <a:prstGeom prst="rect">
            <a:avLst/>
          </a:prstGeom>
        </p:spPr>
      </p:pic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1F86321-8BA1-8C00-70CC-7A75810B9850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D6C4B81-B587-58F3-122A-CD697BCE0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14</a:t>
            </a:fld>
            <a:r>
              <a:rPr lang="en-US" dirty="0"/>
              <a:t>/19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6E83A13-9A0D-B7C7-005A-523936488F03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8D0F4EE3-7E96-1427-B176-4254E5DB7D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056D422E-C7F5-1EAC-CD14-621D6C21BE7B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Dataset Overview &amp; Custom Splitting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E0996E3-3E22-7585-35FA-6EF1290721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9040"/>
          <a:stretch>
            <a:fillRect/>
          </a:stretch>
        </p:blipFill>
        <p:spPr>
          <a:xfrm>
            <a:off x="6405638" y="5798207"/>
            <a:ext cx="8046913" cy="1523009"/>
          </a:xfrm>
          <a:prstGeom prst="rect">
            <a:avLst/>
          </a:prstGeom>
        </p:spPr>
      </p:pic>
      <p:sp>
        <p:nvSpPr>
          <p:cNvPr id="31" name="TextBox 15">
            <a:extLst>
              <a:ext uri="{FF2B5EF4-FFF2-40B4-BE49-F238E27FC236}">
                <a16:creationId xmlns:a16="http://schemas.microsoft.com/office/drawing/2014/main" id="{2C2438F1-3F44-2852-9072-6A6B13B96156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Dataset and Experimental Protocol </a:t>
            </a:r>
            <a:r>
              <a:rPr lang="en-GB" dirty="0">
                <a:solidFill>
                  <a:schemeClr val="tx2"/>
                </a:solidFill>
              </a:rPr>
              <a:t>●○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6C0A4D9-D3A0-FD89-BBF8-7112A3880451}"/>
              </a:ext>
            </a:extLst>
          </p:cNvPr>
          <p:cNvSpPr txBox="1"/>
          <p:nvPr/>
        </p:nvSpPr>
        <p:spPr>
          <a:xfrm>
            <a:off x="6627620" y="1273892"/>
            <a:ext cx="785791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it-IT" sz="2400" b="1" dirty="0" err="1"/>
              <a:t>Original</a:t>
            </a:r>
            <a:r>
              <a:rPr lang="it-IT" sz="2400" b="1" dirty="0"/>
              <a:t> Dataset:</a:t>
            </a:r>
            <a:r>
              <a:rPr lang="it-IT" sz="2400" dirty="0"/>
              <a:t> 83,739 images </a:t>
            </a:r>
            <a:r>
              <a:rPr lang="it-IT" sz="2400" dirty="0" err="1"/>
              <a:t>across</a:t>
            </a:r>
            <a:r>
              <a:rPr lang="it-IT" sz="2400" dirty="0"/>
              <a:t> 200 fine-</a:t>
            </a:r>
            <a:r>
              <a:rPr lang="it-IT" sz="2400" dirty="0" err="1"/>
              <a:t>grained</a:t>
            </a:r>
            <a:r>
              <a:rPr lang="it-IT" sz="2400" dirty="0"/>
              <a:t> SKU classes (53,739 single-product </a:t>
            </a:r>
            <a:r>
              <a:rPr lang="it-IT" sz="2400" dirty="0" err="1"/>
              <a:t>exemplars</a:t>
            </a:r>
            <a:r>
              <a:rPr lang="it-IT" sz="2400" dirty="0"/>
              <a:t>, 6,000 multi-product </a:t>
            </a:r>
            <a:r>
              <a:rPr lang="it-IT" sz="2400" dirty="0" err="1"/>
              <a:t>validation</a:t>
            </a:r>
            <a:r>
              <a:rPr lang="it-IT" sz="2400" dirty="0"/>
              <a:t>, and 24,000 multi-product test images).</a:t>
            </a:r>
          </a:p>
          <a:p>
            <a:pPr lvl="0"/>
            <a:r>
              <a:rPr lang="it-IT" sz="2400" b="1" dirty="0"/>
              <a:t>Experiment Focus:</a:t>
            </a:r>
            <a:r>
              <a:rPr lang="it-IT" sz="2400" dirty="0"/>
              <a:t> Combines </a:t>
            </a:r>
            <a:r>
              <a:rPr lang="it-IT" sz="2400" dirty="0" err="1"/>
              <a:t>all</a:t>
            </a:r>
            <a:r>
              <a:rPr lang="it-IT" sz="2400" dirty="0"/>
              <a:t> multi-product checkout </a:t>
            </a:r>
            <a:r>
              <a:rPr lang="it-IT" sz="2400" dirty="0" err="1"/>
              <a:t>scenes</a:t>
            </a:r>
            <a:r>
              <a:rPr lang="it-IT" sz="2400" dirty="0"/>
              <a:t> (</a:t>
            </a:r>
            <a:r>
              <a:rPr lang="it-IT" sz="2400" dirty="0" err="1"/>
              <a:t>validation</a:t>
            </a:r>
            <a:r>
              <a:rPr lang="it-IT" sz="2400" dirty="0"/>
              <a:t> + test) </a:t>
            </a:r>
            <a:r>
              <a:rPr lang="it-IT" sz="2400" dirty="0" err="1"/>
              <a:t>into</a:t>
            </a:r>
            <a:r>
              <a:rPr lang="it-IT" sz="2400" dirty="0"/>
              <a:t> a 30,000-image dataset </a:t>
            </a:r>
            <a:r>
              <a:rPr lang="it-IT" sz="2400" dirty="0" err="1"/>
              <a:t>containing</a:t>
            </a:r>
            <a:r>
              <a:rPr lang="it-IT" sz="2400" dirty="0"/>
              <a:t> 367,935 product </a:t>
            </a:r>
            <a:r>
              <a:rPr lang="it-IT" sz="2400" dirty="0" err="1"/>
              <a:t>instances</a:t>
            </a:r>
            <a:r>
              <a:rPr lang="it-IT" sz="2400" dirty="0"/>
              <a:t> (~12.25 products per image).</a:t>
            </a:r>
          </a:p>
          <a:p>
            <a:pPr lvl="0"/>
            <a:r>
              <a:rPr lang="it-IT" sz="2400" b="1" dirty="0"/>
              <a:t>Evaluation Scope:</a:t>
            </a:r>
            <a:r>
              <a:rPr lang="it-IT" sz="2400" dirty="0"/>
              <a:t> </a:t>
            </a:r>
            <a:r>
              <a:rPr lang="it-IT" sz="2400" dirty="0" err="1"/>
              <a:t>Uses</a:t>
            </a:r>
            <a:r>
              <a:rPr lang="it-IT" sz="2400" dirty="0"/>
              <a:t> a custom split to </a:t>
            </a:r>
            <a:r>
              <a:rPr lang="it-IT" sz="2400" dirty="0" err="1"/>
              <a:t>preserve</a:t>
            </a:r>
            <a:r>
              <a:rPr lang="it-IT" sz="2400" dirty="0"/>
              <a:t> </a:t>
            </a:r>
            <a:r>
              <a:rPr lang="it-IT" sz="2400" dirty="0" err="1"/>
              <a:t>realistic</a:t>
            </a:r>
            <a:r>
              <a:rPr lang="it-IT" sz="2400" dirty="0"/>
              <a:t> multi-product </a:t>
            </a:r>
            <a:r>
              <a:rPr lang="it-IT" sz="2400" dirty="0" err="1"/>
              <a:t>density</a:t>
            </a:r>
            <a:r>
              <a:rPr lang="it-IT" sz="2400" dirty="0"/>
              <a:t>; </a:t>
            </a:r>
            <a:r>
              <a:rPr lang="it-IT" sz="2400" dirty="0" err="1"/>
              <a:t>results</a:t>
            </a:r>
            <a:r>
              <a:rPr lang="it-IT" sz="2400" dirty="0"/>
              <a:t> </a:t>
            </a:r>
            <a:r>
              <a:rPr lang="it-IT" sz="2400" dirty="0" err="1"/>
              <a:t>reflect</a:t>
            </a:r>
            <a:r>
              <a:rPr lang="it-IT" sz="2400" dirty="0"/>
              <a:t> </a:t>
            </a:r>
            <a:r>
              <a:rPr lang="it-IT" sz="2400" dirty="0" err="1"/>
              <a:t>this</a:t>
            </a:r>
            <a:r>
              <a:rPr lang="it-IT" sz="2400" dirty="0"/>
              <a:t> custom </a:t>
            </a:r>
            <a:r>
              <a:rPr lang="it-IT" sz="2400" dirty="0" err="1"/>
              <a:t>protocol</a:t>
            </a:r>
            <a:r>
              <a:rPr lang="it-IT" sz="2400" dirty="0"/>
              <a:t> </a:t>
            </a:r>
            <a:r>
              <a:rPr lang="it-IT" sz="2400" dirty="0" err="1"/>
              <a:t>rather</a:t>
            </a:r>
            <a:r>
              <a:rPr lang="it-IT" sz="2400" dirty="0"/>
              <a:t> </a:t>
            </a:r>
            <a:r>
              <a:rPr lang="it-IT" sz="2400" dirty="0" err="1"/>
              <a:t>than</a:t>
            </a:r>
            <a:r>
              <a:rPr lang="it-IT" sz="2400" dirty="0"/>
              <a:t> official RPC </a:t>
            </a:r>
            <a:r>
              <a:rPr lang="it-IT" sz="2400" dirty="0" err="1"/>
              <a:t>leaderboard</a:t>
            </a:r>
            <a:r>
              <a:rPr lang="it-IT" sz="2400" dirty="0"/>
              <a:t> scores.</a:t>
            </a:r>
          </a:p>
          <a:p>
            <a:pPr lvl="0"/>
            <a:r>
              <a:rPr lang="it-IT" sz="2400" b="1" dirty="0" err="1"/>
              <a:t>Specific</a:t>
            </a:r>
            <a:r>
              <a:rPr lang="it-IT" sz="2400" b="1" dirty="0"/>
              <a:t> </a:t>
            </a:r>
            <a:r>
              <a:rPr lang="it-IT" sz="2400" b="1" dirty="0" err="1"/>
              <a:t>Grouped</a:t>
            </a:r>
            <a:r>
              <a:rPr lang="it-IT" sz="2400" b="1" dirty="0"/>
              <a:t> Dataset Split:</a:t>
            </a:r>
          </a:p>
        </p:txBody>
      </p:sp>
    </p:spTree>
    <p:extLst>
      <p:ext uri="{BB962C8B-B14F-4D97-AF65-F5344CB8AC3E}">
        <p14:creationId xmlns:p14="http://schemas.microsoft.com/office/powerpoint/2010/main" val="2967654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5BA6F-3B52-E315-861B-8BC57787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A82746D-D7A8-DF3A-F39F-57631C791BB6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FFB3C7F-38A0-2232-41D6-E727D07B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15</a:t>
            </a:fld>
            <a:r>
              <a:rPr lang="en-US" dirty="0"/>
              <a:t>/19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72F491F-B479-B3FD-F8CA-007F4EF6EE1A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9A6AE5C2-6D36-CDA2-C5D0-DC9055CF71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5BF28C08-6CD7-597D-769F-DCA092317090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Baseline, Main Model, and Evaluation Protocol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B5F7F761-D91F-9232-55E2-B3782B2921C6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Dataset and Experimental Protocol </a:t>
            </a:r>
            <a:r>
              <a:rPr lang="en-GB" dirty="0">
                <a:solidFill>
                  <a:schemeClr val="tx2"/>
                </a:solidFill>
              </a:rPr>
              <a:t>○●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658B169-9A42-A842-41F1-E70FBEC838F3}"/>
              </a:ext>
            </a:extLst>
          </p:cNvPr>
          <p:cNvSpPr txBox="1"/>
          <p:nvPr/>
        </p:nvSpPr>
        <p:spPr>
          <a:xfrm>
            <a:off x="462533" y="2295513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endParaRPr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F893CCB-1F37-A9B0-CB72-1E82108DFC00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52F8147-3942-30B2-8104-1178C31B211C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endParaRPr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1A2AF04-AD49-C3A5-731B-1D22E8544405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endParaRPr/>
          </a:p>
        </p:txBody>
      </p:sp>
      <p:sp>
        <p:nvSpPr>
          <p:cNvPr id="14" name="TextBox 31">
            <a:extLst>
              <a:ext uri="{FF2B5EF4-FFF2-40B4-BE49-F238E27FC236}">
                <a16:creationId xmlns:a16="http://schemas.microsoft.com/office/drawing/2014/main" id="{ECFF416E-BF0D-5B89-716E-36B27BE5B65B}"/>
              </a:ext>
            </a:extLst>
          </p:cNvPr>
          <p:cNvSpPr txBox="1"/>
          <p:nvPr/>
        </p:nvSpPr>
        <p:spPr>
          <a:xfrm>
            <a:off x="235860" y="1378678"/>
            <a:ext cx="405041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5BA4"/>
                </a:solidFill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Baseline: YOLO11n</a:t>
            </a:r>
          </a:p>
          <a:p>
            <a:pPr>
              <a:spcBef>
                <a:spcPts val="600"/>
              </a:spcBef>
              <a:defRPr sz="1600">
                <a:solidFill>
                  <a:srgbClr val="192332"/>
                </a:solidFill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2,677,888 parameters • 6.9 GFLOPs • baseline detector</a:t>
            </a:r>
          </a:p>
        </p:txBody>
      </p:sp>
      <p:sp>
        <p:nvSpPr>
          <p:cNvPr id="15" name="TextBox 32">
            <a:extLst>
              <a:ext uri="{FF2B5EF4-FFF2-40B4-BE49-F238E27FC236}">
                <a16:creationId xmlns:a16="http://schemas.microsoft.com/office/drawing/2014/main" id="{529F0446-9D89-16EF-5F28-D2FFD19A7DF5}"/>
              </a:ext>
            </a:extLst>
          </p:cNvPr>
          <p:cNvSpPr txBox="1"/>
          <p:nvPr/>
        </p:nvSpPr>
        <p:spPr>
          <a:xfrm>
            <a:off x="235860" y="2767698"/>
            <a:ext cx="4307566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5BA4"/>
                </a:solidFill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Main model: YOLO11s</a:t>
            </a:r>
          </a:p>
          <a:p>
            <a:pPr>
              <a:spcBef>
                <a:spcPts val="600"/>
              </a:spcBef>
              <a:defRPr sz="1600">
                <a:solidFill>
                  <a:srgbClr val="192332"/>
                </a:solidFill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9,490,200 parameters • 21.8 GFLOPs • used for final checkout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481E078E-EF7E-7C77-E0B9-06AAF91ED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1727" y="4713317"/>
            <a:ext cx="6000466" cy="2153412"/>
          </a:xfrm>
          <a:prstGeom prst="rect">
            <a:avLst/>
          </a:prstGeom>
        </p:spPr>
      </p:pic>
      <p:pic>
        <p:nvPicPr>
          <p:cNvPr id="19" name="Immagine 18" descr="No description has been provided for this image">
            <a:extLst>
              <a:ext uri="{FF2B5EF4-FFF2-40B4-BE49-F238E27FC236}">
                <a16:creationId xmlns:a16="http://schemas.microsoft.com/office/drawing/2014/main" id="{E92806B1-9CF2-B438-AFCC-274D4CDEE4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196" y="4330803"/>
            <a:ext cx="8478126" cy="2773219"/>
          </a:xfrm>
          <a:prstGeom prst="rect">
            <a:avLst/>
          </a:prstGeom>
        </p:spPr>
      </p:pic>
      <p:pic>
        <p:nvPicPr>
          <p:cNvPr id="20" name="Immagine 19" descr="No description has been provided for this image">
            <a:extLst>
              <a:ext uri="{FF2B5EF4-FFF2-40B4-BE49-F238E27FC236}">
                <a16:creationId xmlns:a16="http://schemas.microsoft.com/office/drawing/2014/main" id="{5D98B968-7B09-9ADF-0EC2-DB3460DB9F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708" y="1323197"/>
            <a:ext cx="8272424" cy="277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50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3F415-E2EB-AEFC-ABBA-3515A120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6D9F9ED9-8440-65DD-C411-4ED8402EE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66B8750F-4D25-2F86-12E2-FAEE3B6FDB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449E17-31C0-D2DC-D270-15C951C22C93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ACFA6-0AF0-D856-1710-5AD9A67BAC71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633610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374D0-2A00-0C51-E935-192E1180B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E8E0E2C-0874-D49A-5E41-44C096D0C7B7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407F7D8-2471-C4FF-2BF8-404975F9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17</a:t>
            </a:fld>
            <a:r>
              <a:rPr lang="en-US" dirty="0"/>
              <a:t>/19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E3512DB-D938-362B-A623-549ED345C546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2EB1857D-706B-175E-5AD0-C54F1337C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D9C644F5-2434-58CB-B6AE-526037247AFD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Limitations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A74776C1-F4AC-B7CB-3233-C4C6420CB205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Critical Discussion and Limitations </a:t>
            </a:r>
            <a:r>
              <a:rPr lang="en-GB" dirty="0">
                <a:solidFill>
                  <a:schemeClr val="tx2"/>
                </a:solidFill>
              </a:rPr>
              <a:t>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4120F06-A917-8CE5-CBC9-302B20C67752}"/>
              </a:ext>
            </a:extLst>
          </p:cNvPr>
          <p:cNvSpPr txBox="1"/>
          <p:nvPr/>
        </p:nvSpPr>
        <p:spPr>
          <a:xfrm>
            <a:off x="7072313" y="2295513"/>
            <a:ext cx="70911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b="1" dirty="0" err="1"/>
              <a:t>Strict</a:t>
            </a:r>
            <a:r>
              <a:rPr lang="it-IT" sz="2400" b="1" dirty="0"/>
              <a:t> </a:t>
            </a:r>
            <a:r>
              <a:rPr lang="it-IT" sz="2400" b="1" dirty="0" err="1"/>
              <a:t>Metric</a:t>
            </a:r>
            <a:r>
              <a:rPr lang="it-IT" sz="2400" b="1" dirty="0"/>
              <a:t> vs. Standard </a:t>
            </a:r>
            <a:r>
              <a:rPr lang="it-IT" sz="2400" b="1" dirty="0" err="1"/>
              <a:t>mAP</a:t>
            </a:r>
            <a:r>
              <a:rPr lang="it-IT" sz="2400" b="1" dirty="0"/>
              <a:t>:</a:t>
            </a:r>
            <a:r>
              <a:rPr lang="it-IT" sz="2400" dirty="0"/>
              <a:t> High mAP@0.5 </a:t>
            </a:r>
            <a:r>
              <a:rPr lang="it-IT" sz="2400" dirty="0" err="1"/>
              <a:t>does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guarantee</a:t>
            </a:r>
            <a:r>
              <a:rPr lang="it-IT" sz="2400" dirty="0"/>
              <a:t> a </a:t>
            </a:r>
            <a:r>
              <a:rPr lang="it-IT" sz="2400" dirty="0" err="1"/>
              <a:t>functional</a:t>
            </a:r>
            <a:r>
              <a:rPr lang="it-IT" sz="2400" dirty="0"/>
              <a:t> checkout system; </a:t>
            </a:r>
            <a:r>
              <a:rPr lang="it-IT" sz="2400" dirty="0" err="1"/>
              <a:t>recovering</a:t>
            </a:r>
            <a:r>
              <a:rPr lang="it-IT" sz="2400" dirty="0"/>
              <a:t> </a:t>
            </a:r>
            <a:r>
              <a:rPr lang="it-IT" sz="2400" dirty="0" err="1"/>
              <a:t>exact</a:t>
            </a:r>
            <a:r>
              <a:rPr lang="it-IT" sz="2400" dirty="0"/>
              <a:t> SKU </a:t>
            </a:r>
            <a:r>
              <a:rPr lang="it-IT" sz="2400" dirty="0" err="1"/>
              <a:t>counts</a:t>
            </a:r>
            <a:r>
              <a:rPr lang="it-IT" sz="2400" dirty="0"/>
              <a:t> </a:t>
            </a:r>
            <a:r>
              <a:rPr lang="it-IT" sz="2400" dirty="0" err="1"/>
              <a:t>requires</a:t>
            </a:r>
            <a:r>
              <a:rPr lang="it-IT" sz="2400" dirty="0"/>
              <a:t> custom </a:t>
            </a:r>
            <a:r>
              <a:rPr lang="it-IT" sz="2400" dirty="0" err="1"/>
              <a:t>strict</a:t>
            </a:r>
            <a:r>
              <a:rPr lang="it-IT" sz="2400" dirty="0"/>
              <a:t> </a:t>
            </a:r>
            <a:r>
              <a:rPr lang="it-IT" sz="2400" dirty="0" err="1"/>
              <a:t>metrics</a:t>
            </a:r>
            <a:r>
              <a:rPr lang="it-IT" sz="2400" dirty="0"/>
              <a:t> like Checkout </a:t>
            </a:r>
            <a:r>
              <a:rPr lang="it-IT" sz="2400" dirty="0" err="1"/>
              <a:t>Accuracy</a:t>
            </a:r>
            <a:r>
              <a:rPr lang="it-IT" sz="2400" dirty="0"/>
              <a:t> (</a:t>
            </a:r>
            <a:r>
              <a:rPr lang="it-IT" sz="2400" dirty="0" err="1"/>
              <a:t>cAcc</a:t>
            </a:r>
            <a:r>
              <a:rPr lang="it-IT" sz="2400" dirty="0"/>
              <a:t>).</a:t>
            </a:r>
            <a:endParaRPr lang="it-IT" sz="2400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E971327-530C-9261-6F33-27E74B5B3985}"/>
              </a:ext>
            </a:extLst>
          </p:cNvPr>
          <p:cNvSpPr txBox="1"/>
          <p:nvPr/>
        </p:nvSpPr>
        <p:spPr>
          <a:xfrm>
            <a:off x="7072313" y="4528629"/>
            <a:ext cx="667680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b="1" dirty="0"/>
              <a:t>Visual </a:t>
            </a:r>
            <a:r>
              <a:rPr lang="it-IT" sz="2400" b="1" dirty="0" err="1"/>
              <a:t>Ambiguity</a:t>
            </a:r>
            <a:r>
              <a:rPr lang="it-IT" sz="2400" b="1" dirty="0"/>
              <a:t> </a:t>
            </a:r>
            <a:r>
              <a:rPr lang="it-IT" sz="2400" b="1" dirty="0" err="1"/>
              <a:t>Failure</a:t>
            </a:r>
            <a:r>
              <a:rPr lang="it-IT" sz="2400" b="1" dirty="0"/>
              <a:t> Modes:</a:t>
            </a:r>
            <a:r>
              <a:rPr lang="it-IT" sz="2400" dirty="0"/>
              <a:t> Performance </a:t>
            </a:r>
            <a:r>
              <a:rPr lang="it-IT" sz="2400" dirty="0" err="1"/>
              <a:t>degrades</a:t>
            </a:r>
            <a:r>
              <a:rPr lang="it-IT" sz="2400" dirty="0"/>
              <a:t> under heavy item </a:t>
            </a:r>
            <a:r>
              <a:rPr lang="it-IT" sz="2400" dirty="0" err="1"/>
              <a:t>occlusion</a:t>
            </a:r>
            <a:r>
              <a:rPr lang="it-IT" sz="2400" dirty="0"/>
              <a:t>, </a:t>
            </a:r>
            <a:r>
              <a:rPr lang="it-IT" sz="2400" dirty="0" err="1"/>
              <a:t>bad</a:t>
            </a:r>
            <a:r>
              <a:rPr lang="it-IT" sz="2400" dirty="0"/>
              <a:t> lighting/</a:t>
            </a:r>
            <a:r>
              <a:rPr lang="it-IT" sz="2400" dirty="0" err="1"/>
              <a:t>glare</a:t>
            </a:r>
            <a:r>
              <a:rPr lang="it-IT" sz="2400" dirty="0"/>
              <a:t>, or </a:t>
            </a:r>
            <a:r>
              <a:rPr lang="it-IT" sz="2400" dirty="0" err="1"/>
              <a:t>visually</a:t>
            </a:r>
            <a:r>
              <a:rPr lang="it-IT" sz="2400" dirty="0"/>
              <a:t> </a:t>
            </a:r>
            <a:r>
              <a:rPr lang="it-IT" sz="2400" dirty="0" err="1"/>
              <a:t>near-identical</a:t>
            </a:r>
            <a:r>
              <a:rPr lang="it-IT" sz="2400" dirty="0"/>
              <a:t> </a:t>
            </a:r>
            <a:r>
              <a:rPr lang="it-IT" sz="2400" dirty="0" err="1"/>
              <a:t>adjacent</a:t>
            </a:r>
            <a:r>
              <a:rPr lang="it-IT" sz="2400" dirty="0"/>
              <a:t> </a:t>
            </a:r>
            <a:r>
              <a:rPr lang="it-IT" sz="2400" dirty="0" err="1"/>
              <a:t>SKUs</a:t>
            </a:r>
            <a:r>
              <a:rPr lang="it-IT" sz="2400" dirty="0"/>
              <a:t>.</a:t>
            </a:r>
            <a:endParaRPr lang="it-IT" sz="2400" dirty="0">
              <a:solidFill>
                <a:prstClr val="black"/>
              </a:solidFill>
              <a:latin typeface="Arial" panose="020B0604020202020204"/>
            </a:endParaRPr>
          </a:p>
        </p:txBody>
      </p:sp>
      <p:pic>
        <p:nvPicPr>
          <p:cNvPr id="18" name="Immagine 17" descr="Limitation - Free signaling icons">
            <a:extLst>
              <a:ext uri="{FF2B5EF4-FFF2-40B4-BE49-F238E27FC236}">
                <a16:creationId xmlns:a16="http://schemas.microsoft.com/office/drawing/2014/main" id="{6B1E3ECD-3053-3DFC-4FC7-5193D0225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" y="16764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791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97AF5-FD98-2353-B461-AF7AB0C4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F214AB1C-F7D8-8DE9-E978-29DBED57B5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AA872068-2C44-7B6A-6691-1E04370F39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A7070C-D112-B03B-E219-79B5A8D6E660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7E7F8-37E4-AA31-0811-953F2BAB31EF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451325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CC563-587D-2F98-B344-7B53D869D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2D74B8ED-5262-2C11-E4A8-2D17049E0CE6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79BE318-3B07-B484-6770-F58A59F8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19</a:t>
            </a:fld>
            <a:r>
              <a:rPr lang="en-US" dirty="0"/>
              <a:t>/19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804296A-31F5-2DA8-DFFB-0862BA07320A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4A6C5DF0-C8F4-B9E9-C8D1-82EF80A345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DB14ADCF-CDBA-9526-E00C-D1872E21CEBC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solidFill>
                  <a:schemeClr val="tx2"/>
                </a:solidFill>
              </a:rPr>
              <a:t>Achievement and Future Work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BAAB5A63-9FC3-DD3D-C9E5-287BC00EF861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Conclusion and Future Work </a:t>
            </a:r>
            <a:r>
              <a:rPr lang="en-GB" dirty="0">
                <a:solidFill>
                  <a:schemeClr val="tx2"/>
                </a:solidFill>
              </a:rPr>
              <a:t>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3C7D882-A0CC-AD47-9240-29170E1DA082}"/>
              </a:ext>
            </a:extLst>
          </p:cNvPr>
          <p:cNvSpPr txBox="1"/>
          <p:nvPr/>
        </p:nvSpPr>
        <p:spPr>
          <a:xfrm>
            <a:off x="462533" y="2295512"/>
            <a:ext cx="4780980" cy="199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endParaRPr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0123112-2033-483F-E16C-A49E0919F214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4B6609A-C189-0926-0EDB-4DC368F91B28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endParaRPr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61C413D-1EB0-17A3-E475-F3C78FFB5E40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endParaRPr/>
          </a:p>
        </p:txBody>
      </p:sp>
      <p:sp>
        <p:nvSpPr>
          <p:cNvPr id="14" name="TextBox 31">
            <a:extLst>
              <a:ext uri="{FF2B5EF4-FFF2-40B4-BE49-F238E27FC236}">
                <a16:creationId xmlns:a16="http://schemas.microsoft.com/office/drawing/2014/main" id="{2D5CF3F2-37CB-B324-AD62-47F7116F47AA}"/>
              </a:ext>
            </a:extLst>
          </p:cNvPr>
          <p:cNvSpPr txBox="1"/>
          <p:nvPr/>
        </p:nvSpPr>
        <p:spPr>
          <a:xfrm>
            <a:off x="1049387" y="1472208"/>
            <a:ext cx="6712268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5BA4"/>
                </a:solidFill>
              </a:defRPr>
            </a:pPr>
            <a:r>
              <a:rPr sz="2400" dirty="0"/>
              <a:t>What was achieved</a:t>
            </a:r>
          </a:p>
          <a:p>
            <a:pPr>
              <a:spcBef>
                <a:spcPts val="600"/>
              </a:spcBef>
              <a:defRPr sz="1600">
                <a:solidFill>
                  <a:srgbClr val="192332"/>
                </a:solidFill>
              </a:defRPr>
            </a:pPr>
            <a:r>
              <a:rPr sz="2400" dirty="0"/>
              <a:t>A complete single-image-to-checkout pipeline: detection → SKU counting → price lookup → total amount.</a:t>
            </a:r>
          </a:p>
        </p:txBody>
      </p:sp>
      <p:sp>
        <p:nvSpPr>
          <p:cNvPr id="15" name="TextBox 32">
            <a:extLst>
              <a:ext uri="{FF2B5EF4-FFF2-40B4-BE49-F238E27FC236}">
                <a16:creationId xmlns:a16="http://schemas.microsoft.com/office/drawing/2014/main" id="{EA651E8C-81F4-B2C6-2666-E6F13155EFDC}"/>
              </a:ext>
            </a:extLst>
          </p:cNvPr>
          <p:cNvSpPr txBox="1"/>
          <p:nvPr/>
        </p:nvSpPr>
        <p:spPr>
          <a:xfrm>
            <a:off x="1049387" y="3485789"/>
            <a:ext cx="705231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5BA4"/>
                </a:solidFill>
              </a:defRPr>
            </a:pPr>
            <a:r>
              <a:rPr sz="2400" dirty="0"/>
              <a:t>Best </a:t>
            </a:r>
            <a:r>
              <a:rPr lang="it-IT" sz="2400" dirty="0"/>
              <a:t>m</a:t>
            </a:r>
            <a:r>
              <a:rPr sz="2400" dirty="0" err="1"/>
              <a:t>odel</a:t>
            </a:r>
            <a:endParaRPr sz="2400" dirty="0"/>
          </a:p>
          <a:p>
            <a:pPr>
              <a:spcBef>
                <a:spcPts val="600"/>
              </a:spcBef>
              <a:defRPr sz="1600">
                <a:solidFill>
                  <a:srgbClr val="192332"/>
                </a:solidFill>
              </a:defRPr>
            </a:pPr>
            <a:r>
              <a:rPr sz="2400" dirty="0"/>
              <a:t>YOLO11s is the stronger model: mAP@0.5:0.95 = 0.8869 and </a:t>
            </a:r>
            <a:r>
              <a:rPr sz="2400" dirty="0" err="1"/>
              <a:t>cAcc</a:t>
            </a:r>
            <a:r>
              <a:rPr sz="2400" dirty="0"/>
              <a:t> = 0.9491.</a:t>
            </a:r>
          </a:p>
        </p:txBody>
      </p:sp>
      <p:sp>
        <p:nvSpPr>
          <p:cNvPr id="16" name="TextBox 33">
            <a:extLst>
              <a:ext uri="{FF2B5EF4-FFF2-40B4-BE49-F238E27FC236}">
                <a16:creationId xmlns:a16="http://schemas.microsoft.com/office/drawing/2014/main" id="{F3ED7FDF-5EED-491D-5382-CFC47DE9300C}"/>
              </a:ext>
            </a:extLst>
          </p:cNvPr>
          <p:cNvSpPr txBox="1"/>
          <p:nvPr/>
        </p:nvSpPr>
        <p:spPr>
          <a:xfrm>
            <a:off x="1049387" y="5082444"/>
            <a:ext cx="13444706" cy="18774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2332"/>
                </a:solidFill>
              </a:defRPr>
            </a:pPr>
            <a:r>
              <a:rPr lang="it-IT" sz="2400" b="1" dirty="0">
                <a:solidFill>
                  <a:srgbClr val="0070C0"/>
                </a:solidFill>
              </a:rPr>
              <a:t>Future work</a:t>
            </a:r>
          </a:p>
          <a:p>
            <a:pPr>
              <a:spcAft>
                <a:spcPts val="800"/>
              </a:spcAft>
              <a:defRPr sz="1800">
                <a:solidFill>
                  <a:srgbClr val="192332"/>
                </a:solidFill>
              </a:defRPr>
            </a:pPr>
            <a:r>
              <a:rPr sz="2400" dirty="0"/>
              <a:t>• Improve robustness to heavy occlusion and visually similar products.</a:t>
            </a:r>
          </a:p>
          <a:p>
            <a:pPr>
              <a:spcAft>
                <a:spcPts val="800"/>
              </a:spcAft>
              <a:defRPr sz="1800">
                <a:solidFill>
                  <a:srgbClr val="192332"/>
                </a:solidFill>
              </a:defRPr>
            </a:pPr>
            <a:r>
              <a:rPr sz="2400" dirty="0"/>
              <a:t>• Expand the product and price catalogue for broader retail scenarios.</a:t>
            </a:r>
          </a:p>
          <a:p>
            <a:pPr>
              <a:spcAft>
                <a:spcPts val="800"/>
              </a:spcAft>
              <a:defRPr sz="1800">
                <a:solidFill>
                  <a:srgbClr val="192332"/>
                </a:solidFill>
              </a:defRPr>
            </a:pPr>
            <a:r>
              <a:rPr sz="2400"/>
              <a:t>• </a:t>
            </a:r>
            <a:r>
              <a:rPr sz="2400" dirty="0"/>
              <a:t>Investigate more advanced post-processing and uncertainty handling for checkout-level errors.</a:t>
            </a:r>
          </a:p>
        </p:txBody>
      </p:sp>
    </p:spTree>
    <p:extLst>
      <p:ext uri="{BB962C8B-B14F-4D97-AF65-F5344CB8AC3E}">
        <p14:creationId xmlns:p14="http://schemas.microsoft.com/office/powerpoint/2010/main" val="638629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AE0F2A-42F6-FC82-99C1-ECA52303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2592F1A4-D7E9-B489-D41E-1AD40B4A86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826B54C8-9005-F796-8445-49921626876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192F418-5FF2-31F9-3419-7D61BC07BE8E}"/>
              </a:ext>
            </a:extLst>
          </p:cNvPr>
          <p:cNvSpPr txBox="1"/>
          <p:nvPr/>
        </p:nvSpPr>
        <p:spPr>
          <a:xfrm>
            <a:off x="0" y="2069483"/>
            <a:ext cx="1463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i="1" dirty="0">
                <a:solidFill>
                  <a:schemeClr val="bg1"/>
                </a:solidFill>
                <a:latin typeface="+mj-lt"/>
              </a:rPr>
              <a:t>THANK YOU FOR LISTENING!</a:t>
            </a:r>
          </a:p>
          <a:p>
            <a:pPr algn="ctr"/>
            <a:r>
              <a:rPr lang="it-IT" sz="2800" i="1" dirty="0">
                <a:solidFill>
                  <a:schemeClr val="bg1"/>
                </a:solidFill>
                <a:latin typeface="+mj-lt"/>
              </a:rPr>
              <a:t>ANY QUESTIONS?</a:t>
            </a:r>
            <a:endParaRPr lang="en-US" sz="28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Immagine 5" descr="Decreto #IoRestoaCasa, domande frequenti sulle misure adottate dal Governo  - CERIMONIE, EVENTI E ATTIVITA' RICREATIVE - Montesegale">
            <a:extLst>
              <a:ext uri="{FF2B5EF4-FFF2-40B4-BE49-F238E27FC236}">
                <a16:creationId xmlns:a16="http://schemas.microsoft.com/office/drawing/2014/main" id="{D5749F58-5FB8-7840-00F3-8A76FBC8E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9140" y="3132813"/>
            <a:ext cx="2932121" cy="42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80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Thesis">
      <a:dk1>
        <a:sysClr val="windowText" lastClr="000000"/>
      </a:dk1>
      <a:lt1>
        <a:sysClr val="window" lastClr="FFFFFF"/>
      </a:lt1>
      <a:dk2>
        <a:srgbClr val="822433"/>
      </a:dk2>
      <a:lt2>
        <a:srgbClr val="E7E6E6"/>
      </a:lt2>
      <a:accent1>
        <a:srgbClr val="C00000"/>
      </a:accent1>
      <a:accent2>
        <a:srgbClr val="F995BB"/>
      </a:accent2>
      <a:accent3>
        <a:srgbClr val="FBCDE0"/>
      </a:accent3>
      <a:accent4>
        <a:srgbClr val="FEDEEB"/>
      </a:accent4>
      <a:accent5>
        <a:srgbClr val="92D050"/>
      </a:accent5>
      <a:accent6>
        <a:srgbClr val="48A1FA"/>
      </a:accent6>
      <a:hlink>
        <a:srgbClr val="FF0000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</TotalTime>
  <Words>1206</Words>
  <Application>Microsoft Macintosh PowerPoint</Application>
  <PresentationFormat>Personalizzato</PresentationFormat>
  <Paragraphs>186</Paragraphs>
  <Slides>20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20</vt:i4>
      </vt:variant>
    </vt:vector>
  </HeadingPairs>
  <TitlesOfParts>
    <vt:vector size="26" baseType="lpstr">
      <vt:lpstr>Arial</vt:lpstr>
      <vt:lpstr>Arial Nova</vt:lpstr>
      <vt:lpstr>Calibri</vt:lpstr>
      <vt:lpstr>Wingdings</vt:lpstr>
      <vt:lpstr>Office Theme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11</cp:revision>
  <dcterms:created xsi:type="dcterms:W3CDTF">2013-01-27T09:14:16Z</dcterms:created>
  <dcterms:modified xsi:type="dcterms:W3CDTF">2026-09-04T10:30:12Z</dcterms:modified>
  <cp:category/>
</cp:coreProperties>
</file>